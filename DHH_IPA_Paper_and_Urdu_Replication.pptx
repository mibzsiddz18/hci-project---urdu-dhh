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2343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23436"/>
                </a:solidFill>
                <a:latin typeface="Arial"/>
              </a:rPr>
              <a:t>Mean SUS Score (n = 20)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SUS 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234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Natural Deaf Speech</c:v>
                  </c:pt>
                  <c:pt idx="1">
                    <c:v>Facilitated English</c:v>
                  </c:pt>
                  <c:pt idx="2">
                    <c:v>LLM Touch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59.6</c:v>
                </c:pt>
                <c:pt idx="1">
                  <c:v>62.5</c:v>
                </c:pt>
                <c:pt idx="2">
                  <c:v>63.5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234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F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REVIEW  ·  CHI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Deaf and Hard of Hearing Access to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Personal Assistants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Voice-Based Input with an LLM-Powered Touch Interface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DeVries, Okosi, Li, Dunphy, Gezae, Conway, Glasser, Kushalnagar, Vogler — Gallaudet University et 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6634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Project — Replicating the Study in Urdu for a Pakistani DHH Audience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voice assistants leave many DHH speakers behind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5361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wasn't built for deaf speech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0195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speech recognition struggles with the variability of deaf-accented and dysarthric speech patterns.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7706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input is well studied — speech isn't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13639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HCI work covers ASL input extensively, but DHH people who speak have far less research behind them.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0050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imperfect options today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37083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their own speech, (2) re-speaking software that adds delay, or (3) touchscreens that aren't context-aware.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78240" y="1554480"/>
            <a:ext cx="2834640" cy="4206240"/>
          </a:xfrm>
          <a:prstGeom prst="roundRect">
            <a:avLst>
              <a:gd name="adj" fmla="val 3871"/>
            </a:avLst>
          </a:prstGeom>
          <a:solidFill>
            <a:srgbClr val="F4F9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opportunity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06840" y="21945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(GPT-4o) can make touch interfaces context-aware — suggesting relevant commands instead of static menus.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06840" y="3931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tests whether that closes the gap with speech.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Deaf/HH Access to IPAs — CHI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Mixed-methods, within-subjects, 3 conditions × 20 participants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Deaf Speech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speaks directly to Alexa using their own voice.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English (WoZ)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researcher re-voices the participant's watched/heard command clearly to Alexa.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Touch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58200" y="28803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suggests contextual buttons on a tablet; TTS reads the built command to Alexa.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0972800" cy="1691640"/>
          </a:xfrm>
          <a:prstGeom prst="roundRect">
            <a:avLst>
              <a:gd name="adj" fmla="val 5405"/>
            </a:avLst>
          </a:prstGeom>
          <a:solidFill>
            <a:srgbClr val="02343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79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DHH voice users perceive the usability/usefulness of LLM-generated task suggestions vs. deaf speech input?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satisfaction ratings compare between natural deaf speech and Wizard-of-Oz facilitated speech?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Deaf/HH Access to IPAs — CHI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Touch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UI ↔ Flask server ↔ GPT-4o, iterating toward one confirmed command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9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proposes 8 starter verbs (Turn, Set, Show…) from context + history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64408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9F8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03320" y="2395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724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a verb → GPT-4o completes it into full task options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90488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9F8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2395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2724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needed, GPT-4o asks one clarifying question + suggested answers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16568" y="23317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18320" y="1828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9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548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55480" y="2395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→ TTS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55480" y="27249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command is shown, confirmed, then read aloud to Alexa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~2s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↔ GPT-4o round trip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43400" y="3886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8–10s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343400" y="4480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touch command latency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3886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3×3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046720" y="4480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grid per screen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6F5F3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3949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 maintained across the session: user command history, running task list, and a description of the smart-home environment (lights, plugs, TVs).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Deaf/HH Access to IPAs — CHI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Participants &amp; Measures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Participants — Gallaudet / DC area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13969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57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20–75 (mean 33, median 26)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61518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328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Deaf · 10% Deaf-Blind · 40% Hard of Hearing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09067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0083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cochlear implants · 55% hearing aids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5661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4838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 ASL in some form, despite spoken-English focus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04164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9593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own a voice assistant at home; most use it rarely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80560"/>
            <a:ext cx="4754880" cy="0"/>
          </a:xfrm>
          <a:prstGeom prst="line">
            <a:avLst/>
          </a:prstGeom>
          <a:noFill/>
          <a:ln w="12700">
            <a:solidFill>
              <a:srgbClr val="D8E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criteria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18+, identify as Deaf/HH/hearing loss, use spoken English in everyday communication (or interested in it)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02343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(after every condition)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2057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2057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Usability Scale — English or validated ASL translation (ASL-SUS)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752344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Adjective 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63840" y="275234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1–7 holistic usability rating, correlates with SUS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44728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63840" y="344728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 — likelihood to recommend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414223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63840" y="41422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 for Natural Deaf Speech only, via SCLite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88289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15–30 min semi-structured interview (thematic analysis, Braun &amp; Clarke) in each participant's preferred language.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Deaf/HH Access to IPAs — CHI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statistically significant differences between conditions on SUS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41732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F4F9F8"/>
          </a:solidFill>
          <a:ln/>
        </p:spPr>
      </p:sp>
      <p:sp>
        <p:nvSpPr>
          <p:cNvPr id="6" name="Text 3"/>
          <p:cNvSpPr/>
          <p:nvPr/>
        </p:nvSpPr>
        <p:spPr>
          <a:xfrm>
            <a:off x="6720840" y="1554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-0.51, p = .022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720840" y="21031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correlation between Word Error Rate and SUS — worse recognition, lower usability.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92240" y="301752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F4F9F8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3154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/ 100%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720840" y="37033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participants had zero Alexa recognition errors; 2 participants were never understood at all (WER 100%).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92240" y="461772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F4F9F8"/>
          </a:solidFill>
          <a:ln/>
        </p:spPr>
      </p:sp>
      <p:sp>
        <p:nvSpPr>
          <p:cNvPr id="12" name="Text 9"/>
          <p:cNvSpPr/>
          <p:nvPr/>
        </p:nvSpPr>
        <p:spPr>
          <a:xfrm>
            <a:off x="6720840" y="4754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 (ASL)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720840" y="5303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ASL-input SUS score (Tran et al.) — notably higher than all three conditions tested here.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Deaf/HH Access to IPAs — CHI 2026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theme clusters from semi-structured interviews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61188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Method: Voice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40487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31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surprised Alexa understood their deaf-accented speech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36499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918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English: accurate, but re-speaking delay caused confusion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432511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2519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participants unsure whether device heard them or the facilitator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5087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508760"/>
            <a:ext cx="3611880" cy="594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508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Method: Touch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617720" y="240487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331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positive; easy to see and select options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36499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2918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(6–10s) and unpredictable option order frustrated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432511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42519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 a visible 'type your own' option and shortcuts/favorites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15087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1508760"/>
            <a:ext cx="361188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1508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Adoption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458200" y="240487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23317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desire for hands-free interaction (cooking, driving, emergencies)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58200" y="336499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0" y="32918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interest in ASL/sign-recognition IPAs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58200" y="432511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42519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comfort with AI learning habits; wanted control over 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Deaf/HH Access to IPAs — CHI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572000" cy="457200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Replicating the Study in Urdu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Pakistani DHH Audience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original CHI 2026 design to a new language, script, and cultural context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Replication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03911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659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study covers only English-speaking DHH users in the 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90779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34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ASR and Urdu-accented deaf speech are essentially unstudied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77647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7033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validated Urdu translation of SUS / Adjective Scale / NPS for DHH use exists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64515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572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DHH communities have very different device access, literacy, and IPA familiarity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2343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Adapt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203911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9659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commands and LLM prompts translated/localized into Urdu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290779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834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TTS/wake-word handling for an Urdu-speaking smart speaker setup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377647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7033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SUS, Adjective Scale, NPS translated and back-translated into Urdu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464515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572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from Pakistani DHH schools/associations instead of Gallaudet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Project — Urdu Replication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 &amp;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48132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&amp; validate instruments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0" y="148132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SUS/Adjective/NPS, translated + back-translated, reviewed with a Pakistani Sign Language (PSL) consultant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807208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07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688336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the LLM Touch prompts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2688336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Re-author the GPT-4o prompts (Appendix C) for Urdu task vocabulary and a Pakistani smart-home context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014216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1421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3895344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Pakistani DHH participants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3895344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DHH schools/associations; same 3-condition, within-subjects design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99262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221224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2212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5102352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sessions &amp; compare to original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5102352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measures (SUS/NPS/Adjective/WER) + interviews in Urdu or PSL; compare against the US findings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Project — Urdu Replication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2026-09-21T10:52:24Z</dcterms:created>
  <dcterms:modified xsi:type="dcterms:W3CDTF">2026-09-21T10:52:24Z</dcterms:modified>
</cp:coreProperties>
</file>